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sldIdLst>
    <p:sldId id="264" r:id="rId2"/>
    <p:sldId id="257" r:id="rId3"/>
    <p:sldId id="258" r:id="rId4"/>
    <p:sldId id="265" r:id="rId5"/>
    <p:sldId id="261" r:id="rId6"/>
    <p:sldId id="262" r:id="rId7"/>
    <p:sldId id="263" r:id="rId8"/>
    <p:sldId id="259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651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0234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36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291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957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22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737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863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3379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409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2658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562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9348591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75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14740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58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3024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C901F-5569-A4F5-E026-B0B2A4A55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6983" y="624110"/>
            <a:ext cx="8967018" cy="1280890"/>
          </a:xfrm>
        </p:spPr>
        <p:txBody>
          <a:bodyPr/>
          <a:lstStyle/>
          <a:p>
            <a:pPr algn="ctr"/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 mascota y yo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FB5F6FD-C60D-5484-32A1-B17BA3A26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69" y="4404852"/>
            <a:ext cx="8849031" cy="1681316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ALUMNOS</a:t>
            </a:r>
          </a:p>
          <a:p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Bosio Daniel Oscar</a:t>
            </a:r>
          </a:p>
          <a:p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Tinunin Pablo Emanuel</a:t>
            </a:r>
          </a:p>
          <a:p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Ferrari Valentino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068530D-1D52-7018-C310-7E2337AE63AF}"/>
              </a:ext>
            </a:extLst>
          </p:cNvPr>
          <p:cNvSpPr txBox="1">
            <a:spLocks/>
          </p:cNvSpPr>
          <p:nvPr/>
        </p:nvSpPr>
        <p:spPr>
          <a:xfrm>
            <a:off x="176982" y="2197032"/>
            <a:ext cx="8967018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s-A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 Profesionalizante I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arcador de contenido 2">
            <a:extLst>
              <a:ext uri="{FF2B5EF4-FFF2-40B4-BE49-F238E27FC236}">
                <a16:creationId xmlns:a16="http://schemas.microsoft.com/office/drawing/2014/main" id="{3A7F097D-BD39-E52E-3B0E-20745BF70B1C}"/>
              </a:ext>
            </a:extLst>
          </p:cNvPr>
          <p:cNvSpPr txBox="1">
            <a:spLocks/>
          </p:cNvSpPr>
          <p:nvPr/>
        </p:nvSpPr>
        <p:spPr>
          <a:xfrm>
            <a:off x="294969" y="3263234"/>
            <a:ext cx="8849030" cy="101343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3" charset="2"/>
              <a:buNone/>
            </a:pP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PROFESOR</a:t>
            </a:r>
          </a:p>
          <a:p>
            <a:r>
              <a:rPr lang="es-A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Lopez</a:t>
            </a:r>
            <a:r>
              <a:rPr lang="es-A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Alejandro</a:t>
            </a:r>
          </a:p>
        </p:txBody>
      </p:sp>
    </p:spTree>
    <p:extLst>
      <p:ext uri="{BB962C8B-B14F-4D97-AF65-F5344CB8AC3E}">
        <p14:creationId xmlns:p14="http://schemas.microsoft.com/office/powerpoint/2010/main" val="4108527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586BB8F3-A9D5-BAF0-444C-AF5C05B23A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3058" y="1689920"/>
            <a:ext cx="7157884" cy="3478160"/>
          </a:xfrm>
        </p:spPr>
        <p:txBody>
          <a:bodyPr>
            <a:noAutofit/>
          </a:bodyPr>
          <a:lstStyle/>
          <a:p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En esta etapa del proyecto, se procede a definir la funcionalidad básica del sistema a desarrollar. El objetivo es establecer claramente quiénes utilizarán la aplicación, cuál será su funcionamiento mínimo (</a:t>
            </a:r>
            <a:r>
              <a:rPr lang="es-ES" sz="2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Happy</a:t>
            </a:r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s-ES" sz="2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Path</a:t>
            </a:r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), cómo se organizará el trabajo (Backlog) y el orden en que se llevará a cabo el desarrollo (</a:t>
            </a:r>
            <a:r>
              <a:rPr lang="es-ES" sz="2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Roadmap</a:t>
            </a:r>
            <a:r>
              <a:rPr lang="es-ES" sz="2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).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341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5FCF922-1F6E-3A78-4C2D-9348337DABE3}"/>
              </a:ext>
            </a:extLst>
          </p:cNvPr>
          <p:cNvSpPr txBox="1"/>
          <p:nvPr/>
        </p:nvSpPr>
        <p:spPr>
          <a:xfrm>
            <a:off x="294968" y="186812"/>
            <a:ext cx="8731045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spcBef>
                <a:spcPts val="1200"/>
              </a:spcBef>
              <a:spcAft>
                <a:spcPts val="1200"/>
              </a:spcAft>
            </a:pPr>
            <a:endParaRPr lang="es-ES" sz="24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algn="ctr" rtl="0">
              <a:spcBef>
                <a:spcPts val="1200"/>
              </a:spcBef>
              <a:spcAft>
                <a:spcPts val="1200"/>
              </a:spcAft>
            </a:pPr>
            <a:r>
              <a:rPr lang="es-ES" sz="2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1- USUARIOS / PERSONAS</a:t>
            </a:r>
            <a:b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b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b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</a:b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El proyecto “Mi mascota y Yo”, en principio orientado a los amantes de los animales para concientizar sobre los cuidados y la tenencia responsable de estos, brindándoles información y asesoramiento sobre los cuidados básicos de tu mejor amigo.</a:t>
            </a:r>
          </a:p>
          <a:p>
            <a:pPr algn="ctr" rtl="0">
              <a:spcBef>
                <a:spcPts val="1200"/>
              </a:spcBef>
              <a:spcAft>
                <a:spcPts val="1200"/>
              </a:spcAft>
            </a:pPr>
            <a:endParaRPr lang="es-E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- </a:t>
            </a:r>
            <a:r>
              <a:rPr lang="es-ES" sz="1400" b="1" i="0" u="sng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Usuarios Adultos:</a:t>
            </a:r>
            <a:r>
              <a:rPr lang="es-ES" sz="1400" b="1" i="0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Brindando recordatorios oportunos, alertas y recomendaciones para un mejor cuidado de tu mascota, por cada objetivo cumplido diario, se le brindara puntos canjeables para la mascota virtual de la app.</a:t>
            </a:r>
            <a:endParaRPr lang="es-ES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rtl="0">
              <a:spcBef>
                <a:spcPts val="1200"/>
              </a:spcBef>
              <a:spcAft>
                <a:spcPts val="1200"/>
              </a:spcAft>
            </a:pPr>
            <a:r>
              <a:rPr lang="es-ES" sz="1400" b="1" i="0" u="sng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-Niños:</a:t>
            </a:r>
            <a:r>
              <a:rPr lang="es-ES" sz="1400" b="1" i="0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Podrán canjear los puntos obtenidos y jugar con su mascota virtual, vistiéndolo, jugando con el o incluso sacándolo a pasear</a:t>
            </a:r>
            <a:r>
              <a:rPr lang="es-ES" sz="14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s-ES" sz="1400" b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br>
              <a:rPr lang="es-E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2052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_clean_infographic_slide_flowchart_style_pres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071" y="427703"/>
            <a:ext cx="8229600" cy="617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uadroTexto 23"/>
          <p:cNvSpPr txBox="1"/>
          <p:nvPr/>
        </p:nvSpPr>
        <p:spPr>
          <a:xfrm>
            <a:off x="245806" y="393950"/>
            <a:ext cx="8799871" cy="509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2800" b="1" dirty="0">
                <a:effectLst/>
                <a:latin typeface="Times New Roman" panose="02020603050405020304" pitchFamily="18" charset="0"/>
              </a:rPr>
              <a:t>3- BACKLOG</a:t>
            </a:r>
            <a:endParaRPr lang="es-AR" sz="2800" b="1" dirty="0"/>
          </a:p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b="1" dirty="0">
                <a:effectLst/>
                <a:latin typeface="Times New Roman" panose="02020603050405020304" pitchFamily="18" charset="0"/>
              </a:rPr>
              <a:t>Funcionalidad 1: Sistema de recordatorios y alertas</a:t>
            </a:r>
            <a:endParaRPr lang="es-AR" sz="1800" b="1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b="1" i="1" dirty="0">
                <a:effectLst/>
                <a:latin typeface="Times New Roman" panose="02020603050405020304" pitchFamily="18" charset="0"/>
              </a:rPr>
              <a:t>Epica: Generacion de recordatorios</a:t>
            </a:r>
            <a:endParaRPr lang="es-AR" sz="1800" b="1" i="1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dirty="0">
                <a:effectLst/>
                <a:latin typeface="Times New Roman" panose="02020603050405020304" pitchFamily="18" charset="0"/>
              </a:rPr>
              <a:t>- Como usuario adulto, quiero recibir recordatorios de alimentacion para no olvidar darle de comer a mi mascota.</a:t>
            </a:r>
            <a:endParaRPr lang="es-AR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dirty="0">
                <a:effectLst/>
                <a:latin typeface="Times New Roman" panose="02020603050405020304" pitchFamily="18" charset="0"/>
              </a:rPr>
              <a:t>- Como usuario adulto, quiero recibir alertas de vacunacion y turnos al veterinario para mantener la salud de mi mascota.</a:t>
            </a:r>
            <a:endParaRPr lang="es-AR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b="1" i="1" dirty="0">
                <a:effectLst/>
                <a:latin typeface="Times New Roman" panose="02020603050405020304" pitchFamily="18" charset="0"/>
              </a:rPr>
              <a:t>Epica: Sistema de puntos canjeables</a:t>
            </a:r>
            <a:endParaRPr lang="es-AR" sz="1800" b="1" i="1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dirty="0">
                <a:effectLst/>
                <a:latin typeface="Times New Roman" panose="02020603050405020304" pitchFamily="18" charset="0"/>
              </a:rPr>
              <a:t>- Como usuario adulto, quiero ganar puntos al cumplir tareas de cuidado diarias para que mi hijo los canjee en la mascota virtual.</a:t>
            </a:r>
            <a:endParaRPr lang="es-AR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2311814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uadroTexto 23"/>
          <p:cNvSpPr txBox="1"/>
          <p:nvPr/>
        </p:nvSpPr>
        <p:spPr>
          <a:xfrm>
            <a:off x="245806" y="393950"/>
            <a:ext cx="8799871" cy="4593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b="1" dirty="0">
                <a:effectLst/>
                <a:latin typeface="Times New Roman" panose="02020603050405020304" pitchFamily="18" charset="0"/>
              </a:rPr>
              <a:t>Funcionalidad 2: Mascota virtual interactiva</a:t>
            </a:r>
            <a:endParaRPr lang="es-AR" sz="1800" b="1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b="1" i="1" dirty="0">
                <a:effectLst/>
                <a:latin typeface="Times New Roman" panose="02020603050405020304" pitchFamily="18" charset="0"/>
              </a:rPr>
              <a:t>Epica: Personalizacion de la mascota</a:t>
            </a:r>
            <a:endParaRPr lang="es-AR" sz="1800" b="1" i="1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dirty="0">
                <a:effectLst/>
                <a:latin typeface="Times New Roman" panose="02020603050405020304" pitchFamily="18" charset="0"/>
              </a:rPr>
              <a:t>- Como niño, quiero vestir a mi mascota virtual con ropa canjeada por puntos para personalizarla.</a:t>
            </a:r>
            <a:endParaRPr lang="es-AR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dirty="0">
                <a:effectLst/>
                <a:latin typeface="Times New Roman" panose="02020603050405020304" pitchFamily="18" charset="0"/>
              </a:rPr>
              <a:t>- Como niño, quiero pasear a mi mascota virtual para interactuar con ella.</a:t>
            </a:r>
            <a:endParaRPr lang="es-AR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b="1" i="1" dirty="0">
                <a:effectLst/>
                <a:latin typeface="Times New Roman" panose="02020603050405020304" pitchFamily="18" charset="0"/>
              </a:rPr>
              <a:t>Funcionalidad 3: Gestion de perfiles de usuario</a:t>
            </a:r>
            <a:endParaRPr lang="es-AR" sz="1800" b="1" i="1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b="1" i="1" dirty="0">
                <a:effectLst/>
                <a:latin typeface="Times New Roman" panose="02020603050405020304" pitchFamily="18" charset="0"/>
              </a:rPr>
              <a:t>Epica: Preferencias de usuario</a:t>
            </a:r>
            <a:endParaRPr lang="es-AR" sz="1800" b="1" i="1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dirty="0">
                <a:effectLst/>
                <a:latin typeface="Times New Roman" panose="02020603050405020304" pitchFamily="18" charset="0"/>
              </a:rPr>
              <a:t>- Como usuario, quiero configurar el tipo y nombre de mi mascota real para personalizar mis recordatorios.</a:t>
            </a:r>
            <a:endParaRPr lang="es-AR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dirty="0">
                <a:effectLst/>
                <a:latin typeface="Times New Roman" panose="02020603050405020304" pitchFamily="18" charset="0"/>
              </a:rPr>
              <a:t>- Como usuario, quiero elegir el medio de notificacion (push, email) segun mi preferencia.</a:t>
            </a:r>
            <a:endParaRPr lang="es-AR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2311814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CuadroTexto 23"/>
          <p:cNvSpPr txBox="1"/>
          <p:nvPr/>
        </p:nvSpPr>
        <p:spPr>
          <a:xfrm>
            <a:off x="245806" y="393950"/>
            <a:ext cx="8799871" cy="50906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b="1" dirty="0">
                <a:effectLst/>
                <a:latin typeface="Times New Roman" panose="02020603050405020304" pitchFamily="18" charset="0"/>
              </a:rPr>
              <a:t>Funcionalidad 4: Informacion y concientizacion</a:t>
            </a:r>
            <a:endParaRPr lang="es-AR" sz="1800" b="1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b="1" i="1" dirty="0">
                <a:effectLst/>
                <a:latin typeface="Times New Roman" panose="02020603050405020304" pitchFamily="18" charset="0"/>
              </a:rPr>
              <a:t>Epica: Contenido educativo</a:t>
            </a:r>
            <a:endParaRPr lang="es-AR" sz="1800" b="1" i="1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dirty="0">
                <a:effectLst/>
                <a:latin typeface="Times New Roman" panose="02020603050405020304" pitchFamily="18" charset="0"/>
              </a:rPr>
              <a:t>- Como usuario, quiero acceder a articulos y guias sobre cuidados basicos de mascotas para estar informado.</a:t>
            </a:r>
            <a:endParaRPr lang="es-AR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dirty="0">
                <a:effectLst/>
                <a:latin typeface="Times New Roman" panose="02020603050405020304" pitchFamily="18" charset="0"/>
              </a:rPr>
              <a:t>- Como usuario, quiero recibir consejos semanales sobre tenencia responsable para mejorar el cuidado de mi mascota.</a:t>
            </a:r>
            <a:endParaRPr lang="es-AR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b="1" i="1" dirty="0">
                <a:effectLst/>
                <a:latin typeface="Times New Roman" panose="02020603050405020304" pitchFamily="18" charset="0"/>
              </a:rPr>
              <a:t>Epica: Panel administrativo</a:t>
            </a:r>
            <a:endParaRPr lang="es-AR" sz="1800" b="1" i="1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dirty="0">
                <a:effectLst/>
                <a:latin typeface="Times New Roman" panose="02020603050405020304" pitchFamily="18" charset="0"/>
              </a:rPr>
              <a:t>- Como administrador, quiero gestionar los contenidos educativos publicados en la app.</a:t>
            </a:r>
            <a:endParaRPr lang="es-AR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s-AR" sz="1800" dirty="0">
                <a:effectLst/>
                <a:latin typeface="Times New Roman" panose="02020603050405020304" pitchFamily="18" charset="0"/>
              </a:rPr>
              <a:t>- Como administrador, quiero ver estadisticas de uso y cumplimiento de tareas para mejorar la experiencia.</a:t>
            </a:r>
            <a:endParaRPr lang="es-AR" sz="1800" dirty="0"/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endParaRPr lang="es-AR" sz="1800" dirty="0"/>
          </a:p>
        </p:txBody>
      </p:sp>
    </p:spTree>
    <p:extLst>
      <p:ext uri="{BB962C8B-B14F-4D97-AF65-F5344CB8AC3E}">
        <p14:creationId xmlns:p14="http://schemas.microsoft.com/office/powerpoint/2010/main" val="23118149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446406" y="350856"/>
            <a:ext cx="421775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s-A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</a:t>
            </a: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Roadmap de Desarrollo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1097280" cy="731520"/>
          </a:xfrm>
          <a:prstGeom prst="round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Configuracion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645920" y="1371600"/>
            <a:ext cx="1097280" cy="731520"/>
          </a:xfrm>
          <a:prstGeom prst="round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Recordatorios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2834640" y="1371600"/>
            <a:ext cx="1097280" cy="731520"/>
          </a:xfrm>
          <a:prstGeom prst="round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Perfiles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023360" y="1371600"/>
            <a:ext cx="1097280" cy="731520"/>
          </a:xfrm>
          <a:prstGeom prst="round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Notificaciones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212080" y="1371600"/>
            <a:ext cx="1097280" cy="731520"/>
          </a:xfrm>
          <a:prstGeom prst="round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Mascota Virtual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1097280" cy="731520"/>
          </a:xfrm>
          <a:prstGeom prst="round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Gamificacion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7589520" y="1371600"/>
            <a:ext cx="1097280" cy="731520"/>
          </a:xfrm>
          <a:prstGeom prst="roundRect">
            <a:avLst/>
          </a:prstGeom>
          <a:solidFill>
            <a:srgbClr val="00999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Contenidos</a:t>
            </a:r>
            <a:endParaRPr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726112" y="4069574"/>
            <a:ext cx="1371600" cy="73152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AR" dirty="0"/>
              <a:t>Beta</a:t>
            </a:r>
            <a:endParaRPr dirty="0"/>
          </a:p>
        </p:txBody>
      </p:sp>
      <p:sp>
        <p:nvSpPr>
          <p:cNvPr id="11" name="Rounded Rectangle 10"/>
          <p:cNvSpPr/>
          <p:nvPr/>
        </p:nvSpPr>
        <p:spPr>
          <a:xfrm>
            <a:off x="3861128" y="4070560"/>
            <a:ext cx="1371600" cy="73152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 err="1"/>
              <a:t>Pruebas</a:t>
            </a:r>
            <a:r>
              <a:rPr lang="es-AR" dirty="0"/>
              <a:t> y mejoras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6766560" y="4070560"/>
            <a:ext cx="1371600" cy="731520"/>
          </a:xfrm>
          <a:prstGeom prst="roundRect">
            <a:avLst/>
          </a:prstGeom>
          <a:solidFill>
            <a:srgbClr val="C8C8C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Final</a:t>
            </a:r>
          </a:p>
        </p:txBody>
      </p:sp>
      <p:sp>
        <p:nvSpPr>
          <p:cNvPr id="16" name="Rectángulo: una sola esquina cortada 15">
            <a:extLst>
              <a:ext uri="{FF2B5EF4-FFF2-40B4-BE49-F238E27FC236}">
                <a16:creationId xmlns:a16="http://schemas.microsoft.com/office/drawing/2014/main" id="{661D4775-B3EF-A4D9-1131-DB08F38B718A}"/>
              </a:ext>
            </a:extLst>
          </p:cNvPr>
          <p:cNvSpPr/>
          <p:nvPr/>
        </p:nvSpPr>
        <p:spPr>
          <a:xfrm>
            <a:off x="457200" y="3033250"/>
            <a:ext cx="954712" cy="511277"/>
          </a:xfrm>
          <a:prstGeom prst="snip1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Sprint 1 </a:t>
            </a:r>
            <a:endParaRPr lang="en-US" dirty="0"/>
          </a:p>
        </p:txBody>
      </p:sp>
      <p:sp>
        <p:nvSpPr>
          <p:cNvPr id="17" name="Rectángulo: una sola esquina cortada 16">
            <a:extLst>
              <a:ext uri="{FF2B5EF4-FFF2-40B4-BE49-F238E27FC236}">
                <a16:creationId xmlns:a16="http://schemas.microsoft.com/office/drawing/2014/main" id="{BF147BDB-7BC6-E1BA-F97E-79E18A509784}"/>
              </a:ext>
            </a:extLst>
          </p:cNvPr>
          <p:cNvSpPr/>
          <p:nvPr/>
        </p:nvSpPr>
        <p:spPr>
          <a:xfrm>
            <a:off x="1717204" y="3033250"/>
            <a:ext cx="954712" cy="511277"/>
          </a:xfrm>
          <a:prstGeom prst="snip1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Sprint 2 </a:t>
            </a:r>
            <a:endParaRPr lang="en-US" dirty="0"/>
          </a:p>
        </p:txBody>
      </p:sp>
      <p:sp>
        <p:nvSpPr>
          <p:cNvPr id="18" name="Rectángulo: una sola esquina cortada 17">
            <a:extLst>
              <a:ext uri="{FF2B5EF4-FFF2-40B4-BE49-F238E27FC236}">
                <a16:creationId xmlns:a16="http://schemas.microsoft.com/office/drawing/2014/main" id="{1609D5AB-9867-7BF2-936C-BB903A689897}"/>
              </a:ext>
            </a:extLst>
          </p:cNvPr>
          <p:cNvSpPr/>
          <p:nvPr/>
        </p:nvSpPr>
        <p:spPr>
          <a:xfrm>
            <a:off x="4094644" y="3033249"/>
            <a:ext cx="954712" cy="511277"/>
          </a:xfrm>
          <a:prstGeom prst="snip1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Sprint 4 </a:t>
            </a:r>
            <a:endParaRPr lang="en-US" dirty="0"/>
          </a:p>
        </p:txBody>
      </p:sp>
      <p:sp>
        <p:nvSpPr>
          <p:cNvPr id="19" name="Rectángulo: una sola esquina cortada 18">
            <a:extLst>
              <a:ext uri="{FF2B5EF4-FFF2-40B4-BE49-F238E27FC236}">
                <a16:creationId xmlns:a16="http://schemas.microsoft.com/office/drawing/2014/main" id="{394B1A64-7F09-1E11-CF67-821CB9A422EF}"/>
              </a:ext>
            </a:extLst>
          </p:cNvPr>
          <p:cNvSpPr/>
          <p:nvPr/>
        </p:nvSpPr>
        <p:spPr>
          <a:xfrm>
            <a:off x="2905924" y="3038159"/>
            <a:ext cx="954712" cy="511277"/>
          </a:xfrm>
          <a:prstGeom prst="snip1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Sprint 3 </a:t>
            </a:r>
            <a:endParaRPr lang="en-US" dirty="0"/>
          </a:p>
        </p:txBody>
      </p:sp>
      <p:sp>
        <p:nvSpPr>
          <p:cNvPr id="20" name="Rectángulo: una sola esquina cortada 19">
            <a:extLst>
              <a:ext uri="{FF2B5EF4-FFF2-40B4-BE49-F238E27FC236}">
                <a16:creationId xmlns:a16="http://schemas.microsoft.com/office/drawing/2014/main" id="{F02D0F33-FE45-6CBF-F491-BBF444BC5790}"/>
              </a:ext>
            </a:extLst>
          </p:cNvPr>
          <p:cNvSpPr/>
          <p:nvPr/>
        </p:nvSpPr>
        <p:spPr>
          <a:xfrm>
            <a:off x="5283364" y="3033248"/>
            <a:ext cx="954712" cy="511277"/>
          </a:xfrm>
          <a:prstGeom prst="snip1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Sprint 5</a:t>
            </a:r>
            <a:endParaRPr lang="en-US" dirty="0"/>
          </a:p>
        </p:txBody>
      </p:sp>
      <p:sp>
        <p:nvSpPr>
          <p:cNvPr id="21" name="Rectángulo: una sola esquina cortada 20">
            <a:extLst>
              <a:ext uri="{FF2B5EF4-FFF2-40B4-BE49-F238E27FC236}">
                <a16:creationId xmlns:a16="http://schemas.microsoft.com/office/drawing/2014/main" id="{AF783E26-269C-3659-127A-85AB4D545449}"/>
              </a:ext>
            </a:extLst>
          </p:cNvPr>
          <p:cNvSpPr/>
          <p:nvPr/>
        </p:nvSpPr>
        <p:spPr>
          <a:xfrm>
            <a:off x="6472084" y="3033247"/>
            <a:ext cx="954712" cy="511277"/>
          </a:xfrm>
          <a:prstGeom prst="snip1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Sprint 6 </a:t>
            </a:r>
            <a:endParaRPr lang="en-US" dirty="0"/>
          </a:p>
        </p:txBody>
      </p:sp>
      <p:sp>
        <p:nvSpPr>
          <p:cNvPr id="22" name="Rectángulo: una sola esquina cortada 21">
            <a:extLst>
              <a:ext uri="{FF2B5EF4-FFF2-40B4-BE49-F238E27FC236}">
                <a16:creationId xmlns:a16="http://schemas.microsoft.com/office/drawing/2014/main" id="{A1BA025D-7381-4764-893B-9365729A7875}"/>
              </a:ext>
            </a:extLst>
          </p:cNvPr>
          <p:cNvSpPr/>
          <p:nvPr/>
        </p:nvSpPr>
        <p:spPr>
          <a:xfrm>
            <a:off x="7752244" y="3033246"/>
            <a:ext cx="954712" cy="511277"/>
          </a:xfrm>
          <a:prstGeom prst="snip1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Sprint 7 </a:t>
            </a:r>
            <a:endParaRPr lang="en-US" dirty="0"/>
          </a:p>
        </p:txBody>
      </p:sp>
      <p:sp>
        <p:nvSpPr>
          <p:cNvPr id="23" name="Rectángulo: una sola esquina cortada 22">
            <a:extLst>
              <a:ext uri="{FF2B5EF4-FFF2-40B4-BE49-F238E27FC236}">
                <a16:creationId xmlns:a16="http://schemas.microsoft.com/office/drawing/2014/main" id="{326D27B6-4BB4-7171-A5D3-82B4625F253C}"/>
              </a:ext>
            </a:extLst>
          </p:cNvPr>
          <p:cNvSpPr/>
          <p:nvPr/>
        </p:nvSpPr>
        <p:spPr>
          <a:xfrm>
            <a:off x="926200" y="5629447"/>
            <a:ext cx="954712" cy="511277"/>
          </a:xfrm>
          <a:prstGeom prst="snip1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Sprint 8 </a:t>
            </a:r>
            <a:endParaRPr lang="en-US" dirty="0"/>
          </a:p>
        </p:txBody>
      </p:sp>
      <p:sp>
        <p:nvSpPr>
          <p:cNvPr id="24" name="Rectángulo: una sola esquina cortada 23">
            <a:extLst>
              <a:ext uri="{FF2B5EF4-FFF2-40B4-BE49-F238E27FC236}">
                <a16:creationId xmlns:a16="http://schemas.microsoft.com/office/drawing/2014/main" id="{49DA0DF2-0E12-4B3B-ED8B-FCF4CC8BF8A1}"/>
              </a:ext>
            </a:extLst>
          </p:cNvPr>
          <p:cNvSpPr/>
          <p:nvPr/>
        </p:nvSpPr>
        <p:spPr>
          <a:xfrm>
            <a:off x="6870044" y="5629448"/>
            <a:ext cx="1164631" cy="511277"/>
          </a:xfrm>
          <a:prstGeom prst="snip1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Sprint 10</a:t>
            </a:r>
            <a:endParaRPr lang="en-US" dirty="0"/>
          </a:p>
        </p:txBody>
      </p:sp>
      <p:sp>
        <p:nvSpPr>
          <p:cNvPr id="25" name="Rectángulo: una sola esquina cortada 24">
            <a:extLst>
              <a:ext uri="{FF2B5EF4-FFF2-40B4-BE49-F238E27FC236}">
                <a16:creationId xmlns:a16="http://schemas.microsoft.com/office/drawing/2014/main" id="{6FE88573-B154-5B6E-DA2E-CB87C01BD243}"/>
              </a:ext>
            </a:extLst>
          </p:cNvPr>
          <p:cNvSpPr/>
          <p:nvPr/>
        </p:nvSpPr>
        <p:spPr>
          <a:xfrm>
            <a:off x="4094645" y="5629448"/>
            <a:ext cx="954712" cy="511277"/>
          </a:xfrm>
          <a:prstGeom prst="snip1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Sprint 9 </a:t>
            </a:r>
            <a:endParaRPr lang="en-US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1B5462EB-6880-BFB2-F2D5-E40F828DEB42}"/>
              </a:ext>
            </a:extLst>
          </p:cNvPr>
          <p:cNvSpPr txBox="1"/>
          <p:nvPr/>
        </p:nvSpPr>
        <p:spPr>
          <a:xfrm>
            <a:off x="457200" y="2113493"/>
            <a:ext cx="10972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Configuracion del entorno, base de datos y registro de usuarios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3C016F8-799E-09BF-C44E-6DC38FDBD685}"/>
              </a:ext>
            </a:extLst>
          </p:cNvPr>
          <p:cNvSpPr txBox="1"/>
          <p:nvPr/>
        </p:nvSpPr>
        <p:spPr>
          <a:xfrm>
            <a:off x="1700784" y="2125932"/>
            <a:ext cx="1097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Sistema de recordatorios de alimentacion y cuidados diarios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FCF944B4-90FD-8DAE-B93D-440E4222E584}"/>
              </a:ext>
            </a:extLst>
          </p:cNvPr>
          <p:cNvSpPr txBox="1"/>
          <p:nvPr/>
        </p:nvSpPr>
        <p:spPr>
          <a:xfrm>
            <a:off x="2952727" y="2121890"/>
            <a:ext cx="10972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Gestion de perfiles de mascotas y preferencias de usuario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2AD9A4BB-0BE9-D6A3-3DB9-4E841BFE7F18}"/>
              </a:ext>
            </a:extLst>
          </p:cNvPr>
          <p:cNvSpPr txBox="1"/>
          <p:nvPr/>
        </p:nvSpPr>
        <p:spPr>
          <a:xfrm>
            <a:off x="4053349" y="2121890"/>
            <a:ext cx="10972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Envio de notificaciones push y configuracion de alertas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DE6BEA28-3E7F-BE4F-C095-0BF1438D51F6}"/>
              </a:ext>
            </a:extLst>
          </p:cNvPr>
          <p:cNvSpPr txBox="1"/>
          <p:nvPr/>
        </p:nvSpPr>
        <p:spPr>
          <a:xfrm>
            <a:off x="5210606" y="2126498"/>
            <a:ext cx="10972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Sistema de puntos canjeables por tareas de cuidado cumplidas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7E79FEE2-92DD-3F92-94E5-D84C892CC7E8}"/>
              </a:ext>
            </a:extLst>
          </p:cNvPr>
          <p:cNvSpPr txBox="1"/>
          <p:nvPr/>
        </p:nvSpPr>
        <p:spPr>
          <a:xfrm>
            <a:off x="6410878" y="2126498"/>
            <a:ext cx="10972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Mascota virtual: accesorios, ropa y personalizacion</a:t>
            </a:r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BBFAEF3-070B-054C-6640-9E692432007D}"/>
              </a:ext>
            </a:extLst>
          </p:cNvPr>
          <p:cNvSpPr txBox="1"/>
          <p:nvPr/>
        </p:nvSpPr>
        <p:spPr>
          <a:xfrm>
            <a:off x="7670882" y="2127064"/>
            <a:ext cx="10972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Seccion de articulos y contenidos sobre tenencia responsable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F4992C3-FB83-545D-437B-3E75322803F4}"/>
              </a:ext>
            </a:extLst>
          </p:cNvPr>
          <p:cNvSpPr txBox="1"/>
          <p:nvPr/>
        </p:nvSpPr>
        <p:spPr>
          <a:xfrm>
            <a:off x="776453" y="4869736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completo integrado y pruebas de usuario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94486C86-FE7F-A78C-1672-84D4583502C0}"/>
              </a:ext>
            </a:extLst>
          </p:cNvPr>
          <p:cNvSpPr txBox="1"/>
          <p:nvPr/>
        </p:nvSpPr>
        <p:spPr>
          <a:xfrm>
            <a:off x="3886202" y="4893152"/>
            <a:ext cx="13716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Prueba del sistema, correccion de errores y ajustes finales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A2E52004-BE3E-5B67-C45F-BB5DED1FDECC}"/>
              </a:ext>
            </a:extLst>
          </p:cNvPr>
          <p:cNvSpPr txBox="1"/>
          <p:nvPr/>
        </p:nvSpPr>
        <p:spPr>
          <a:xfrm>
            <a:off x="6780817" y="4927782"/>
            <a:ext cx="1371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Defensa final del proyecto</a:t>
            </a:r>
          </a:p>
        </p:txBody>
      </p: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43E3EBF2-8E84-CA06-6936-B04E0AF95D51}"/>
              </a:ext>
            </a:extLst>
          </p:cNvPr>
          <p:cNvCxnSpPr>
            <a:endCxn id="4" idx="1"/>
          </p:cNvCxnSpPr>
          <p:nvPr/>
        </p:nvCxnSpPr>
        <p:spPr>
          <a:xfrm rot="16200000" flipV="1">
            <a:off x="1182824" y="2200456"/>
            <a:ext cx="1295886" cy="369693"/>
          </a:xfrm>
          <a:prstGeom prst="bentConnector4">
            <a:avLst>
              <a:gd name="adj1" fmla="val 18156"/>
              <a:gd name="adj2" fmla="val 11928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5" name="Conector: angular 54">
            <a:extLst>
              <a:ext uri="{FF2B5EF4-FFF2-40B4-BE49-F238E27FC236}">
                <a16:creationId xmlns:a16="http://schemas.microsoft.com/office/drawing/2014/main" id="{B3D2E4EE-6197-96F4-65AA-D335ACB8CBFC}"/>
              </a:ext>
            </a:extLst>
          </p:cNvPr>
          <p:cNvCxnSpPr>
            <a:stCxn id="19" idx="3"/>
            <a:endCxn id="5" idx="1"/>
          </p:cNvCxnSpPr>
          <p:nvPr/>
        </p:nvCxnSpPr>
        <p:spPr>
          <a:xfrm rot="16200000" flipV="1">
            <a:off x="2458561" y="2113440"/>
            <a:ext cx="1300799" cy="548640"/>
          </a:xfrm>
          <a:prstGeom prst="bentConnector4">
            <a:avLst>
              <a:gd name="adj1" fmla="val 5956"/>
              <a:gd name="adj2" fmla="val 10940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1" name="Conector: angular 60">
            <a:extLst>
              <a:ext uri="{FF2B5EF4-FFF2-40B4-BE49-F238E27FC236}">
                <a16:creationId xmlns:a16="http://schemas.microsoft.com/office/drawing/2014/main" id="{2F7D7B1A-11A9-A0CC-DAAD-8B7F7BCDC95A}"/>
              </a:ext>
            </a:extLst>
          </p:cNvPr>
          <p:cNvCxnSpPr>
            <a:stCxn id="16" idx="3"/>
            <a:endCxn id="3" idx="1"/>
          </p:cNvCxnSpPr>
          <p:nvPr/>
        </p:nvCxnSpPr>
        <p:spPr>
          <a:xfrm rot="16200000" flipV="1">
            <a:off x="47933" y="2146627"/>
            <a:ext cx="1295890" cy="477356"/>
          </a:xfrm>
          <a:prstGeom prst="bentConnector4">
            <a:avLst>
              <a:gd name="adj1" fmla="val 7838"/>
              <a:gd name="adj2" fmla="val 14788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Conector: angular 63">
            <a:extLst>
              <a:ext uri="{FF2B5EF4-FFF2-40B4-BE49-F238E27FC236}">
                <a16:creationId xmlns:a16="http://schemas.microsoft.com/office/drawing/2014/main" id="{D32A08E0-EFB4-093C-45CC-EC07E514E5FA}"/>
              </a:ext>
            </a:extLst>
          </p:cNvPr>
          <p:cNvCxnSpPr>
            <a:stCxn id="18" idx="3"/>
            <a:endCxn id="6" idx="1"/>
          </p:cNvCxnSpPr>
          <p:nvPr/>
        </p:nvCxnSpPr>
        <p:spPr>
          <a:xfrm rot="16200000" flipV="1">
            <a:off x="3649736" y="2110985"/>
            <a:ext cx="1295889" cy="548640"/>
          </a:xfrm>
          <a:prstGeom prst="bentConnector4">
            <a:avLst>
              <a:gd name="adj1" fmla="val 5577"/>
              <a:gd name="adj2" fmla="val 114785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Conector: angular 67">
            <a:extLst>
              <a:ext uri="{FF2B5EF4-FFF2-40B4-BE49-F238E27FC236}">
                <a16:creationId xmlns:a16="http://schemas.microsoft.com/office/drawing/2014/main" id="{4C2248EB-7E8A-F9E3-FB97-359676FD07FC}"/>
              </a:ext>
            </a:extLst>
          </p:cNvPr>
          <p:cNvCxnSpPr>
            <a:stCxn id="20" idx="3"/>
            <a:endCxn id="7" idx="1"/>
          </p:cNvCxnSpPr>
          <p:nvPr/>
        </p:nvCxnSpPr>
        <p:spPr>
          <a:xfrm rot="16200000" flipV="1">
            <a:off x="4838456" y="2110984"/>
            <a:ext cx="1295888" cy="548640"/>
          </a:xfrm>
          <a:prstGeom prst="bentConnector4">
            <a:avLst>
              <a:gd name="adj1" fmla="val 5630"/>
              <a:gd name="adj2" fmla="val 11120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3" name="Conector: angular 72">
            <a:extLst>
              <a:ext uri="{FF2B5EF4-FFF2-40B4-BE49-F238E27FC236}">
                <a16:creationId xmlns:a16="http://schemas.microsoft.com/office/drawing/2014/main" id="{0185516A-47BF-18E5-D2EB-67ACBE17D2D0}"/>
              </a:ext>
            </a:extLst>
          </p:cNvPr>
          <p:cNvCxnSpPr>
            <a:stCxn id="21" idx="3"/>
            <a:endCxn id="8" idx="1"/>
          </p:cNvCxnSpPr>
          <p:nvPr/>
        </p:nvCxnSpPr>
        <p:spPr>
          <a:xfrm rot="16200000" flipV="1">
            <a:off x="6027177" y="2110984"/>
            <a:ext cx="1295887" cy="548640"/>
          </a:xfrm>
          <a:prstGeom prst="bentConnector4">
            <a:avLst>
              <a:gd name="adj1" fmla="val 27504"/>
              <a:gd name="adj2" fmla="val 11299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7" name="Conector: angular 76">
            <a:extLst>
              <a:ext uri="{FF2B5EF4-FFF2-40B4-BE49-F238E27FC236}">
                <a16:creationId xmlns:a16="http://schemas.microsoft.com/office/drawing/2014/main" id="{1B91FEB7-8846-76F0-8E0A-2A0B30BDA337}"/>
              </a:ext>
            </a:extLst>
          </p:cNvPr>
          <p:cNvCxnSpPr>
            <a:stCxn id="22" idx="3"/>
            <a:endCxn id="9" idx="1"/>
          </p:cNvCxnSpPr>
          <p:nvPr/>
        </p:nvCxnSpPr>
        <p:spPr>
          <a:xfrm rot="16200000" flipV="1">
            <a:off x="7261617" y="2065263"/>
            <a:ext cx="1295886" cy="640080"/>
          </a:xfrm>
          <a:prstGeom prst="bentConnector4">
            <a:avLst>
              <a:gd name="adj1" fmla="val 4978"/>
              <a:gd name="adj2" fmla="val 106528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1" name="Conector: angular 80">
            <a:extLst>
              <a:ext uri="{FF2B5EF4-FFF2-40B4-BE49-F238E27FC236}">
                <a16:creationId xmlns:a16="http://schemas.microsoft.com/office/drawing/2014/main" id="{F85BE66D-E6F7-DFD2-B4B2-3A3999165C5E}"/>
              </a:ext>
            </a:extLst>
          </p:cNvPr>
          <p:cNvCxnSpPr>
            <a:stCxn id="23" idx="2"/>
            <a:endCxn id="10" idx="1"/>
          </p:cNvCxnSpPr>
          <p:nvPr/>
        </p:nvCxnSpPr>
        <p:spPr>
          <a:xfrm rot="10800000">
            <a:off x="726112" y="4435334"/>
            <a:ext cx="200088" cy="1449752"/>
          </a:xfrm>
          <a:prstGeom prst="bentConnector3">
            <a:avLst>
              <a:gd name="adj1" fmla="val 21425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3" name="Conector: angular 82">
            <a:extLst>
              <a:ext uri="{FF2B5EF4-FFF2-40B4-BE49-F238E27FC236}">
                <a16:creationId xmlns:a16="http://schemas.microsoft.com/office/drawing/2014/main" id="{814171F5-FA04-41D4-5B61-2C8F1E2E634A}"/>
              </a:ext>
            </a:extLst>
          </p:cNvPr>
          <p:cNvCxnSpPr>
            <a:stCxn id="25" idx="2"/>
            <a:endCxn id="11" idx="1"/>
          </p:cNvCxnSpPr>
          <p:nvPr/>
        </p:nvCxnSpPr>
        <p:spPr>
          <a:xfrm rot="10800000">
            <a:off x="3861129" y="4436321"/>
            <a:ext cx="233517" cy="1448767"/>
          </a:xfrm>
          <a:prstGeom prst="bentConnector3">
            <a:avLst>
              <a:gd name="adj1" fmla="val 19789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Conector: angular 84">
            <a:extLst>
              <a:ext uri="{FF2B5EF4-FFF2-40B4-BE49-F238E27FC236}">
                <a16:creationId xmlns:a16="http://schemas.microsoft.com/office/drawing/2014/main" id="{5E4104BF-B799-7272-25FF-BBAB72C8B37F}"/>
              </a:ext>
            </a:extLst>
          </p:cNvPr>
          <p:cNvCxnSpPr>
            <a:stCxn id="24" idx="2"/>
            <a:endCxn id="13" idx="1"/>
          </p:cNvCxnSpPr>
          <p:nvPr/>
        </p:nvCxnSpPr>
        <p:spPr>
          <a:xfrm rot="10800000">
            <a:off x="6766560" y="4436321"/>
            <a:ext cx="103484" cy="1448767"/>
          </a:xfrm>
          <a:prstGeom prst="bentConnector3">
            <a:avLst>
              <a:gd name="adj1" fmla="val 32090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8112300"/>
      </p:ext>
    </p:extLst>
  </p:cSld>
  <p:clrMapOvr>
    <a:masterClrMapping/>
  </p:clrMapOvr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178</TotalTime>
  <Words>580</Words>
  <Application>Microsoft Office PowerPoint</Application>
  <PresentationFormat>On-screen Show (4:3)</PresentationFormat>
  <Paragraphs>68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Century Gothic</vt:lpstr>
      <vt:lpstr>Times New Roman</vt:lpstr>
      <vt:lpstr>Wingdings 3</vt:lpstr>
      <vt:lpstr>Espiral</vt:lpstr>
      <vt:lpstr>Mi mascota y yo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pablo tinunin</dc:creator>
  <cp:keywords/>
  <dc:description>generated using python-pptx</dc:description>
  <cp:lastModifiedBy>pablo tinunin</cp:lastModifiedBy>
  <cp:revision>4</cp:revision>
  <dcterms:created xsi:type="dcterms:W3CDTF">2013-01-27T09:14:16Z</dcterms:created>
  <dcterms:modified xsi:type="dcterms:W3CDTF">2026-05-09T02:46:15Z</dcterms:modified>
  <cp:category/>
</cp:coreProperties>
</file>